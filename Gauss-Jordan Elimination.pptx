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7" r:id="rId9"/>
    <p:sldId id="265" r:id="rId10"/>
    <p:sldId id="270" r:id="rId11"/>
    <p:sldId id="269" r:id="rId12"/>
    <p:sldId id="271" r:id="rId13"/>
    <p:sldId id="272" r:id="rId14"/>
    <p:sldId id="266" r:id="rId15"/>
    <p:sldId id="268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9E4E1"/>
    <a:srgbClr val="FA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EE03-BB1E-3CE9-8B61-33E0F3D54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7732A-B3C6-47DD-1BC1-B3EBA53B2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6424-6181-66F3-0985-BDCE1718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10E33-CD50-5BE4-3BA4-BEF8D06FB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267C-D4D0-370B-5DC1-D23FDA8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75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E22F9-D1D7-3040-ADE4-04F85F38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3AD26-C0AA-4A7E-9E6A-8ED2B9C3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ACA20-D3A3-1323-220A-4510AE6B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FD23-378E-9F5C-2E40-F3719E7E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60006-E7BC-D0A7-8B99-19964154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09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6A-D763-9EA0-91C6-FF16FC2F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B178A-C0FF-AB13-FA1E-2F23DF18E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D587-925B-27ED-DC7E-70F252A1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0D46D-E6A1-C302-47CD-10AE2113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DE8D7-4CC6-7D50-2228-F293F84D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16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C9B1-CEB2-1ABD-B803-AE356D9E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B1C88-947E-1BA8-5BA9-3F4428580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F6FAE-3719-C980-3827-A3BAFCEA6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5F2B9-91E2-4A41-E0D8-8DEB7204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4765B-3FD6-2911-0B14-AA6F99EA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31373-146A-80C7-B55B-6F52BD43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4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F59A-BF7A-46B7-48E5-707F4A6D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A2295-E4A2-1659-56C4-BBEF54C74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79138E-537E-752A-53A0-4BAE12A3A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C01D4-ACFD-7072-178E-0FAFEE119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5D61C-17A1-FB80-AB2F-88A8268C49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2CE30-565A-9124-E4E1-69F9B587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EBFE6-5869-B8E6-7886-74C324E8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D5EAF-E2EE-BAA1-0F0A-2CA5D27EC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95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4D312-E878-50FF-73F1-11651464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03CDF-D347-9C76-0E53-5319DACF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3A011-B06C-9160-483B-1DE8CE06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B03E3-EEC3-A9A0-4B15-DE2570F6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06978-165D-6A36-020F-729E1829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4E5AB-32D2-CB5B-2993-1B1977A1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83A0-B9FA-C11C-4479-263B8833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04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0DCE-5040-B548-A207-14FFDC14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5EBB-702F-889C-D27B-631E795E2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69D46-F105-186D-E9D0-79C2A85D0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0DEAD-020F-AEE5-2B04-5175A89F0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BFB-0762-D988-2436-09A5C0757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713E-B0AE-0F2A-6569-768F80A1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20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0846-E403-F667-BE16-5CA66A34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A6B6F-FAC0-621B-A9BA-D18E78C95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1078B-1125-BE66-E003-9E6F45943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C46B3-6ABC-9CEA-054C-DD62784D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14DA3-4299-3023-346F-083D13FE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531CF-1999-11BB-F37A-6C6F6707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5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FB993-7176-1D23-A48F-E6F9DD2C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12B1A-D394-41CC-6EFF-DA7A283DA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81931-2AFF-90A5-DDC6-B29354FB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B4FC-7A71-E39F-9150-F416272E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2F2A-97B8-AD13-8A8E-3FE0D84A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0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45D75-51F2-3ED3-1AD5-09F03E0D3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0F879-2FC9-2512-9E88-EBFE49260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335E5-99E6-1510-A372-7AF230FC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2D23-E088-1BFB-9306-4942424C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D4466-037D-87F1-0056-A75D87F9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73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2DBC2-770E-72B4-6963-F64EE794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02A19-37E4-9EBE-A63D-5372A0A3F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FE949-088E-0E1C-162C-9601638F7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BF42-170E-459A-BE43-B2C8FC4D7685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2E440-A09F-68D3-999C-897AF33D0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89A09-7A9A-DABA-905A-73529340F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4931C-C461-45FB-A362-8810DF1767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0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rakrititz/Gauss-Jordan-Cpp" TargetMode="Externa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forces.com/problemset/problem/895/C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prakrititz/Gauss-Jordan-Cpp" TargetMode="Externa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forces.com/problemset/problem/959/F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krititz/Gauss-Jordan-Cpp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3CAB-D035-27C9-DD45-EEE38BE1A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8256" y="210312"/>
            <a:ext cx="8095488" cy="1209357"/>
          </a:xfrm>
        </p:spPr>
        <p:txBody>
          <a:bodyPr/>
          <a:lstStyle/>
          <a:p>
            <a:r>
              <a:rPr lang="en-US" dirty="0"/>
              <a:t>Gauss-Jordan Elimination</a:t>
            </a:r>
            <a:endParaRPr lang="en-IN" dirty="0"/>
          </a:p>
        </p:txBody>
      </p:sp>
      <p:pic>
        <p:nvPicPr>
          <p:cNvPr id="1026" name="Picture 2" descr="Gauss-Jordan Elimination">
            <a:extLst>
              <a:ext uri="{FF2B5EF4-FFF2-40B4-BE49-F238E27FC236}">
                <a16:creationId xmlns:a16="http://schemas.microsoft.com/office/drawing/2014/main" id="{6B3F5D64-78BC-1210-33FC-5111B572D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920" y="2408493"/>
            <a:ext cx="6648704" cy="37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2C4273-ED19-0D83-8EBD-D6EB634F5348}"/>
              </a:ext>
            </a:extLst>
          </p:cNvPr>
          <p:cNvSpPr txBox="1"/>
          <p:nvPr/>
        </p:nvSpPr>
        <p:spPr>
          <a:xfrm>
            <a:off x="3906012" y="1739918"/>
            <a:ext cx="416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Algorithmic Thinking</a:t>
            </a:r>
          </a:p>
          <a:p>
            <a:pPr algn="ctr"/>
            <a:r>
              <a:rPr lang="en-US" dirty="0"/>
              <a:t>13th  February 2026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5ABBE-4F45-E005-0BB6-854BB1DB2E6C}"/>
              </a:ext>
            </a:extLst>
          </p:cNvPr>
          <p:cNvSpPr txBox="1"/>
          <p:nvPr/>
        </p:nvSpPr>
        <p:spPr>
          <a:xfrm>
            <a:off x="413766" y="630026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Image </a:t>
            </a:r>
            <a:r>
              <a:rPr lang="en-IN" dirty="0" err="1"/>
              <a:t>Src</a:t>
            </a:r>
            <a:r>
              <a:rPr lang="en-IN" dirty="0"/>
              <a:t>: Prime Newtons @Youtube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42A45-BBF4-B025-E65C-F65E73E86CAD}"/>
              </a:ext>
            </a:extLst>
          </p:cNvPr>
          <p:cNvSpPr txBox="1"/>
          <p:nvPr/>
        </p:nvSpPr>
        <p:spPr>
          <a:xfrm>
            <a:off x="3976116" y="1395746"/>
            <a:ext cx="41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-Prakrititz Borah (IMT2023547)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962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A7A326-9311-AB7E-20BD-E0E547378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60" y="488369"/>
            <a:ext cx="8572935" cy="13722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961E00-58FA-250F-742F-A90317D9D592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42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3397-C04E-BA1B-E794-AAA7B69B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FA307-CA99-DE1B-42FB-16BEF12DC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758" y="847782"/>
            <a:ext cx="10378484" cy="4269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E5CA50-10EF-3D4A-63AC-B1F8148C7252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815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DEA2C1-6780-D699-0EF2-6863C6DC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43" y="1052184"/>
            <a:ext cx="9098513" cy="4083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0E54C9-CDA0-9132-15F1-C1505A3921C3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07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F0A67-1875-2DD8-E849-26CDBD047C40}"/>
              </a:ext>
            </a:extLst>
          </p:cNvPr>
          <p:cNvSpPr txBox="1"/>
          <p:nvPr/>
        </p:nvSpPr>
        <p:spPr>
          <a:xfrm>
            <a:off x="3369827" y="1292120"/>
            <a:ext cx="5072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Main Goal : Reduced Row Echelon Form (RREF)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56445-99F9-7447-E95E-0F7F53F9C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1661452"/>
            <a:ext cx="5906324" cy="32770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F94C8-7CA8-4C83-3AD7-796C38A84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5678" y="1661452"/>
            <a:ext cx="5706271" cy="326753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0BB79DE-6827-A91A-C4BB-D9AD9C04E231}"/>
              </a:ext>
            </a:extLst>
          </p:cNvPr>
          <p:cNvSpPr txBox="1">
            <a:spLocks/>
          </p:cNvSpPr>
          <p:nvPr/>
        </p:nvSpPr>
        <p:spPr>
          <a:xfrm>
            <a:off x="2542794" y="340279"/>
            <a:ext cx="8095488" cy="1209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Can we make it for general </a:t>
            </a:r>
            <a:r>
              <a:rPr lang="en-US" dirty="0" err="1"/>
              <a:t>NxM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4D7B4-450D-5166-F7EC-5E984E8CBC43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6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79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AA648-EA83-D099-773A-83C59EF81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809" y="808193"/>
            <a:ext cx="8123886" cy="5429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6F755-CFDF-DFBC-56EC-DD8E74AC9E75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624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EB995-2CF8-561B-C161-0281B631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958144"/>
            <a:ext cx="8773749" cy="46583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06A2E6-8D07-E659-06B4-6B5102082D21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27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A339F4-AC96-CE32-4760-363E8C4001B7}"/>
              </a:ext>
            </a:extLst>
          </p:cNvPr>
          <p:cNvSpPr txBox="1"/>
          <p:nvPr/>
        </p:nvSpPr>
        <p:spPr>
          <a:xfrm>
            <a:off x="4700016" y="327398"/>
            <a:ext cx="4507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Complexity?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1928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B102-6A32-D850-E55F-B01476EE615E}"/>
              </a:ext>
            </a:extLst>
          </p:cNvPr>
          <p:cNvSpPr txBox="1">
            <a:spLocks/>
          </p:cNvSpPr>
          <p:nvPr/>
        </p:nvSpPr>
        <p:spPr>
          <a:xfrm>
            <a:off x="685800" y="1090087"/>
            <a:ext cx="11216640" cy="1209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The code discussed we would deal more in ML, as we often deal with floating-point approximations. </a:t>
            </a:r>
          </a:p>
          <a:p>
            <a:r>
              <a:rPr lang="en-US" sz="2800" dirty="0"/>
              <a:t>In CP, we prioritize exact solutions using </a:t>
            </a:r>
            <a:r>
              <a:rPr lang="en-US" sz="2800" b="1" dirty="0"/>
              <a:t>Modular Arithmetic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76990-20E4-1AFB-BE2B-81C16541B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362" y="2637168"/>
            <a:ext cx="8053276" cy="237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4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84A36-F7E6-694A-6E93-0BCB0FEA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723522"/>
            <a:ext cx="8640381" cy="5410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FD67D3-D366-C343-71D3-99A8766AEE3D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25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5420B-6D88-E6D8-E1F2-1328C5516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742575"/>
            <a:ext cx="9211961" cy="5372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03387E-7E59-13EE-386E-29A404C74A1F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584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1A70A-3EBC-66A4-3C94-CFE59F91A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705" y="1341794"/>
            <a:ext cx="7268589" cy="39915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CA446F-E825-DDEC-A879-971C5F53CEA6}"/>
              </a:ext>
            </a:extLst>
          </p:cNvPr>
          <p:cNvSpPr txBox="1"/>
          <p:nvPr/>
        </p:nvSpPr>
        <p:spPr>
          <a:xfrm>
            <a:off x="496062" y="614838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524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0C1B7-CFE8-77DB-A25F-C8447C19A5E7}"/>
              </a:ext>
            </a:extLst>
          </p:cNvPr>
          <p:cNvSpPr txBox="1"/>
          <p:nvPr/>
        </p:nvSpPr>
        <p:spPr>
          <a:xfrm>
            <a:off x="4261104" y="2721114"/>
            <a:ext cx="4507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The XOR Trick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257866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DA3D2C-E0AF-7F53-E033-7D5A8AB66440}"/>
              </a:ext>
            </a:extLst>
          </p:cNvPr>
          <p:cNvSpPr txBox="1"/>
          <p:nvPr/>
        </p:nvSpPr>
        <p:spPr>
          <a:xfrm>
            <a:off x="1707896" y="286063"/>
            <a:ext cx="8776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Codeforces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895C  </a:t>
            </a:r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2"/>
              </a:rPr>
              <a:t>https://codeforces.com/problemset/problem/895/C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D36CDC-D005-C805-65F3-6ADBD1292612}"/>
              </a:ext>
            </a:extLst>
          </p:cNvPr>
          <p:cNvGrpSpPr/>
          <p:nvPr/>
        </p:nvGrpSpPr>
        <p:grpSpPr>
          <a:xfrm>
            <a:off x="268093" y="722631"/>
            <a:ext cx="11664827" cy="4874129"/>
            <a:chOff x="268093" y="722631"/>
            <a:chExt cx="10832723" cy="47705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2319E33-118F-7C8F-3B5D-96C02E52DC57}"/>
                </a:ext>
              </a:extLst>
            </p:cNvPr>
            <p:cNvSpPr txBox="1"/>
            <p:nvPr/>
          </p:nvSpPr>
          <p:spPr>
            <a:xfrm>
              <a:off x="268093" y="722631"/>
              <a:ext cx="10832723" cy="47705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1600" b="0" i="0" dirty="0">
                  <a:effectLst/>
                  <a:latin typeface="Helvetica Neue"/>
                </a:rPr>
                <a:t>For some array 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a</a:t>
              </a:r>
              <a:r>
                <a:rPr lang="en-US" sz="1600" b="0" i="0" dirty="0">
                  <a:effectLst/>
                  <a:latin typeface="Helvetica Neue"/>
                </a:rPr>
                <a:t> find the number of different ways to select non-empty subset of elements from it in such a way that their product is equal to a square of some integer.</a:t>
              </a: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Helvetica Neue"/>
                </a:rPr>
                <a:t>Two ways are considered different if sets of indexes of elements chosen by these ways are different.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Helvetica Neue"/>
                </a:rPr>
                <a:t>find the answer modulo 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10</a:t>
              </a:r>
              <a:r>
                <a:rPr lang="en-US" sz="1600" b="0" i="0" baseline="30000" dirty="0">
                  <a:effectLst/>
                  <a:latin typeface="times new roman" panose="02020603050405020304" pitchFamily="18" charset="0"/>
                </a:rPr>
                <a:t>9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 + 7</a:t>
              </a:r>
              <a:r>
                <a:rPr lang="en-US" sz="1600" b="0" i="0" dirty="0">
                  <a:effectLst/>
                  <a:latin typeface="Helvetica Neue"/>
                </a:rPr>
                <a:t>.</a:t>
              </a: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Helvetica Neue"/>
                </a:rPr>
                <a:t>Input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Helvetica Neue"/>
                </a:rPr>
                <a:t>First line contains one integer 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n</a:t>
              </a:r>
              <a:r>
                <a:rPr lang="en-US" sz="1600" b="0" i="0" dirty="0">
                  <a:effectLst/>
                  <a:latin typeface="Helvetica Neue"/>
                </a:rPr>
                <a:t> (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1 ≤ 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n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 ≤ 10</a:t>
              </a:r>
              <a:r>
                <a:rPr lang="en-US" sz="1600" b="0" i="0" baseline="30000" dirty="0">
                  <a:effectLst/>
                  <a:latin typeface="times new roman" panose="02020603050405020304" pitchFamily="18" charset="0"/>
                </a:rPr>
                <a:t>5</a:t>
              </a:r>
              <a:r>
                <a:rPr lang="en-US" sz="1600" b="0" i="0" dirty="0">
                  <a:effectLst/>
                  <a:latin typeface="Helvetica Neue"/>
                </a:rPr>
                <a:t>)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Helvetica Neue"/>
                </a:rPr>
                <a:t>Second line contains 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n</a:t>
              </a:r>
              <a:r>
                <a:rPr lang="en-US" sz="1600" b="0" i="0" dirty="0">
                  <a:effectLst/>
                  <a:latin typeface="Helvetica Neue"/>
                </a:rPr>
                <a:t> integers 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a</a:t>
              </a:r>
              <a:r>
                <a:rPr lang="en-US" sz="1600" b="0" i="1" baseline="-25000" dirty="0">
                  <a:effectLst/>
                  <a:latin typeface="times new roman" panose="02020603050405020304" pitchFamily="18" charset="0"/>
                </a:rPr>
                <a:t>i</a:t>
              </a:r>
              <a:r>
                <a:rPr lang="en-US" sz="1600" b="0" i="0" dirty="0">
                  <a:effectLst/>
                  <a:latin typeface="Helvetica Neue"/>
                </a:rPr>
                <a:t> (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1 ≤ </a:t>
              </a:r>
              <a:r>
                <a:rPr lang="en-US" sz="1600" b="0" i="1" dirty="0">
                  <a:effectLst/>
                  <a:latin typeface="times new roman" panose="02020603050405020304" pitchFamily="18" charset="0"/>
                </a:rPr>
                <a:t>a</a:t>
              </a:r>
              <a:r>
                <a:rPr lang="en-US" sz="1600" b="0" i="1" baseline="-25000" dirty="0">
                  <a:effectLst/>
                  <a:latin typeface="times new roman" panose="02020603050405020304" pitchFamily="18" charset="0"/>
                </a:rPr>
                <a:t>i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 ≤ 70</a:t>
              </a:r>
              <a:r>
                <a:rPr lang="en-US" sz="1600" b="0" i="0" dirty="0">
                  <a:effectLst/>
                  <a:latin typeface="Helvetica Neue"/>
                </a:rPr>
                <a:t>) </a:t>
              </a: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Helvetica Neue"/>
                </a:rPr>
                <a:t>Output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Helvetica Neue"/>
                </a:rPr>
                <a:t>Print one integer — the number of different ways to choose some elements so that their product is a square of a certain integer modulo 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10</a:t>
              </a:r>
              <a:r>
                <a:rPr lang="en-US" sz="1600" b="0" i="0" baseline="30000" dirty="0">
                  <a:effectLst/>
                  <a:latin typeface="times new roman" panose="02020603050405020304" pitchFamily="18" charset="0"/>
                </a:rPr>
                <a:t>9</a:t>
              </a:r>
              <a:r>
                <a:rPr lang="en-US" sz="1600" b="0" i="0" dirty="0">
                  <a:effectLst/>
                  <a:latin typeface="times new roman" panose="02020603050405020304" pitchFamily="18" charset="0"/>
                </a:rPr>
                <a:t> + 7</a:t>
              </a:r>
              <a:r>
                <a:rPr lang="en-US" sz="1600" b="0" i="0" dirty="0">
                  <a:effectLst/>
                  <a:latin typeface="Helvetica Neue"/>
                </a:rPr>
                <a:t>.</a:t>
              </a: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Helvetica Neue"/>
                </a:rPr>
                <a:t>Examples</a:t>
              </a:r>
            </a:p>
            <a:p>
              <a:pPr algn="l">
                <a:buNone/>
              </a:pPr>
              <a:endParaRPr lang="en-US" sz="1600" b="1" i="0" dirty="0">
                <a:effectLst/>
                <a:latin typeface="Helvetica Neue"/>
              </a:endParaRP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Consolas" panose="020B0609020204030204" pitchFamily="49" charset="0"/>
                </a:rPr>
                <a:t>Input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Consolas" panose="020B0609020204030204" pitchFamily="49" charset="0"/>
                </a:rPr>
                <a:t>4</a:t>
              </a:r>
              <a:br>
                <a:rPr lang="en-US" sz="1600" b="0" i="0" dirty="0">
                  <a:effectLst/>
                  <a:latin typeface="Consolas" panose="020B0609020204030204" pitchFamily="49" charset="0"/>
                </a:rPr>
              </a:br>
              <a:r>
                <a:rPr lang="en-US" sz="1600" b="0" i="0" dirty="0">
                  <a:effectLst/>
                  <a:latin typeface="Consolas" panose="020B0609020204030204" pitchFamily="49" charset="0"/>
                </a:rPr>
                <a:t>1 1 1 1</a:t>
              </a:r>
            </a:p>
            <a:p>
              <a:pPr algn="l">
                <a:buNone/>
              </a:pPr>
              <a:r>
                <a:rPr lang="en-US" sz="1600" b="1" i="0" dirty="0">
                  <a:effectLst/>
                  <a:latin typeface="Consolas" panose="020B0609020204030204" pitchFamily="49" charset="0"/>
                </a:rPr>
                <a:t>Output</a:t>
              </a:r>
            </a:p>
            <a:p>
              <a:pPr algn="l">
                <a:buNone/>
              </a:pPr>
              <a:r>
                <a:rPr lang="en-US" sz="1600" b="0" i="0" dirty="0">
                  <a:effectLst/>
                  <a:latin typeface="Consolas" panose="020B0609020204030204" pitchFamily="49" charset="0"/>
                </a:rPr>
                <a:t>15</a:t>
              </a:r>
              <a:br>
                <a:rPr lang="en-US" sz="1600" b="0" i="0" dirty="0">
                  <a:effectLst/>
                  <a:latin typeface="Consolas" panose="020B0609020204030204" pitchFamily="49" charset="0"/>
                </a:rPr>
              </a:br>
              <a:endParaRPr lang="en-US" sz="1600" b="0" i="0" dirty="0">
                <a:effectLst/>
                <a:latin typeface="Consolas" panose="020B0609020204030204" pitchFamily="49" charset="0"/>
              </a:endParaRPr>
            </a:p>
            <a:p>
              <a:pPr algn="l">
                <a:buNone/>
              </a:pPr>
              <a:endParaRPr lang="en-US" sz="1600" b="0" i="0" dirty="0"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324A88-B4B2-3A45-859E-D25DBE46ADF2}"/>
                </a:ext>
              </a:extLst>
            </p:cNvPr>
            <p:cNvSpPr txBox="1"/>
            <p:nvPr/>
          </p:nvSpPr>
          <p:spPr>
            <a:xfrm>
              <a:off x="1482852" y="3646508"/>
              <a:ext cx="2959100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nsolas" panose="020B0609020204030204" pitchFamily="49" charset="0"/>
                </a:rPr>
                <a:t>Input</a:t>
              </a:r>
            </a:p>
            <a:p>
              <a:r>
                <a:rPr lang="en-US" sz="1600" dirty="0">
                  <a:latin typeface="Consolas" panose="020B0609020204030204" pitchFamily="49" charset="0"/>
                </a:rPr>
                <a:t>4</a:t>
              </a:r>
              <a:br>
                <a:rPr lang="en-US" sz="1600" dirty="0">
                  <a:latin typeface="Consolas" panose="020B0609020204030204" pitchFamily="49" charset="0"/>
                </a:rPr>
              </a:br>
              <a:r>
                <a:rPr lang="en-US" sz="1600" dirty="0">
                  <a:latin typeface="Consolas" panose="020B0609020204030204" pitchFamily="49" charset="0"/>
                </a:rPr>
                <a:t>2 2 2 2</a:t>
              </a:r>
            </a:p>
            <a:p>
              <a:r>
                <a:rPr lang="en-US" sz="1600" b="1" dirty="0">
                  <a:latin typeface="Consolas" panose="020B0609020204030204" pitchFamily="49" charset="0"/>
                </a:rPr>
                <a:t>Output</a:t>
              </a:r>
            </a:p>
            <a:p>
              <a:r>
                <a:rPr lang="en-US" sz="1600" dirty="0">
                  <a:latin typeface="Consolas" panose="020B0609020204030204" pitchFamily="49" charset="0"/>
                </a:rPr>
                <a:t>7</a:t>
              </a:r>
              <a:br>
                <a:rPr lang="en-US" sz="1600" dirty="0">
                  <a:latin typeface="Consolas" panose="020B0609020204030204" pitchFamily="49" charset="0"/>
                </a:rPr>
              </a:br>
              <a:endParaRPr lang="en-US" sz="1600" dirty="0">
                <a:latin typeface="Consolas" panose="020B0609020204030204" pitchFamily="49" charset="0"/>
              </a:endParaRPr>
            </a:p>
            <a:p>
              <a:endParaRPr lang="en-IN" sz="16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9DF442-547F-2590-F138-9D9D09716D9A}"/>
                </a:ext>
              </a:extLst>
            </p:cNvPr>
            <p:cNvSpPr txBox="1"/>
            <p:nvPr/>
          </p:nvSpPr>
          <p:spPr>
            <a:xfrm>
              <a:off x="2829052" y="3646508"/>
              <a:ext cx="16129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Consolas" panose="020B0609020204030204" pitchFamily="49" charset="0"/>
                </a:rPr>
                <a:t>Input</a:t>
              </a:r>
            </a:p>
            <a:p>
              <a:r>
                <a:rPr lang="en-US" sz="1600" dirty="0">
                  <a:latin typeface="Consolas" panose="020B0609020204030204" pitchFamily="49" charset="0"/>
                </a:rPr>
                <a:t>5</a:t>
              </a:r>
              <a:br>
                <a:rPr lang="en-US" sz="1600" dirty="0">
                  <a:latin typeface="Consolas" panose="020B0609020204030204" pitchFamily="49" charset="0"/>
                </a:rPr>
              </a:br>
              <a:r>
                <a:rPr lang="en-US" sz="1600" dirty="0">
                  <a:latin typeface="Consolas" panose="020B0609020204030204" pitchFamily="49" charset="0"/>
                </a:rPr>
                <a:t>1 2 4 5 8</a:t>
              </a:r>
            </a:p>
            <a:p>
              <a:r>
                <a:rPr lang="en-US" sz="1600" b="1" dirty="0">
                  <a:latin typeface="Consolas" panose="020B0609020204030204" pitchFamily="49" charset="0"/>
                </a:rPr>
                <a:t>Output</a:t>
              </a:r>
            </a:p>
            <a:p>
              <a:r>
                <a:rPr lang="en-US" sz="1600" dirty="0">
                  <a:latin typeface="Consolas" panose="020B0609020204030204" pitchFamily="49" charset="0"/>
                </a:rPr>
                <a:t>7</a:t>
              </a:r>
              <a:endParaRPr lang="en-IN" sz="16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F1127C5-2F69-63DC-24AA-9D68224BF82F}"/>
              </a:ext>
            </a:extLst>
          </p:cNvPr>
          <p:cNvSpPr txBox="1"/>
          <p:nvPr/>
        </p:nvSpPr>
        <p:spPr>
          <a:xfrm>
            <a:off x="165100" y="5596760"/>
            <a:ext cx="12026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1" i="0" dirty="0">
                <a:effectLst/>
                <a:latin typeface="Helvetica Neue"/>
              </a:rPr>
              <a:t>Note</a:t>
            </a:r>
          </a:p>
          <a:p>
            <a:pPr algn="l">
              <a:buNone/>
            </a:pPr>
            <a:r>
              <a:rPr lang="en-US" sz="1600" b="0" i="0" dirty="0">
                <a:effectLst/>
                <a:latin typeface="Helvetica Neue"/>
              </a:rPr>
              <a:t>In first sample product of elements chosen by any way is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1</a:t>
            </a:r>
            <a:r>
              <a:rPr lang="en-US" sz="1600" b="0" i="0" dirty="0">
                <a:effectLst/>
                <a:latin typeface="Helvetica Neue"/>
              </a:rPr>
              <a:t> and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1 = 1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</a:rPr>
              <a:t>2</a:t>
            </a:r>
            <a:r>
              <a:rPr lang="en-US" sz="1600" b="0" i="0" dirty="0">
                <a:effectLst/>
                <a:latin typeface="Helvetica Neue"/>
              </a:rPr>
              <a:t>. So the answer is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2</a:t>
            </a:r>
            <a:r>
              <a:rPr lang="en-US" sz="1600" b="0" i="0" baseline="30000" dirty="0">
                <a:effectLst/>
                <a:latin typeface="times new roman" panose="02020603050405020304" pitchFamily="18" charset="0"/>
              </a:rPr>
              <a:t>4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 - 1 = 15</a:t>
            </a:r>
            <a:r>
              <a:rPr lang="en-US" sz="1600" b="0" i="0" dirty="0">
                <a:effectLst/>
                <a:latin typeface="Helvetica Neue"/>
              </a:rPr>
              <a:t>.</a:t>
            </a:r>
          </a:p>
          <a:p>
            <a:pPr algn="l">
              <a:buNone/>
            </a:pPr>
            <a:r>
              <a:rPr lang="en-US" sz="1600" b="0" i="0" dirty="0">
                <a:effectLst/>
                <a:latin typeface="Helvetica Neue"/>
              </a:rPr>
              <a:t>In second sample there are six different ways to choose elements so that their product is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4</a:t>
            </a:r>
            <a:r>
              <a:rPr lang="en-US" sz="1600" b="0" i="0" dirty="0">
                <a:effectLst/>
                <a:latin typeface="Helvetica Neue"/>
              </a:rPr>
              <a:t>, and only one way so that their product is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16</a:t>
            </a:r>
            <a:r>
              <a:rPr lang="en-US" sz="1600" b="0" i="0" dirty="0">
                <a:effectLst/>
                <a:latin typeface="Helvetica Neue"/>
              </a:rPr>
              <a:t>. So the answer is </a:t>
            </a:r>
            <a:r>
              <a:rPr lang="en-US" sz="1600" b="0" i="0" dirty="0">
                <a:effectLst/>
                <a:latin typeface="times new roman" panose="02020603050405020304" pitchFamily="18" charset="0"/>
              </a:rPr>
              <a:t>6 + 1 = 7</a:t>
            </a:r>
            <a:r>
              <a:rPr lang="en-US" sz="1600" b="0" i="0" dirty="0">
                <a:effectLst/>
                <a:latin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2465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B39BA-03E3-320D-F465-442CCF930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68" y="1241448"/>
            <a:ext cx="9221487" cy="3296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9A3133-6C56-B402-A5E3-2CEAA38DE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509" y="1160172"/>
            <a:ext cx="6687483" cy="5068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F0541-C5A9-0089-471A-874B24C8B9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771"/>
          <a:stretch>
            <a:fillRect/>
          </a:stretch>
        </p:blipFill>
        <p:spPr>
          <a:xfrm>
            <a:off x="1380913" y="629819"/>
            <a:ext cx="8497486" cy="377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C42290-732F-EC83-C73E-E9EBEA47B6C9}"/>
              </a:ext>
            </a:extLst>
          </p:cNvPr>
          <p:cNvSpPr txBox="1"/>
          <p:nvPr/>
        </p:nvSpPr>
        <p:spPr>
          <a:xfrm>
            <a:off x="323968" y="622817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5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053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1E3DEB-9530-D99E-8CA9-862272788678}"/>
              </a:ext>
            </a:extLst>
          </p:cNvPr>
          <p:cNvSpPr txBox="1"/>
          <p:nvPr/>
        </p:nvSpPr>
        <p:spPr>
          <a:xfrm>
            <a:off x="3129534" y="9879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https://codeforces.com/problemset/problem/959/F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A29E62-2FA0-E258-965C-D4C1F9CA036A}"/>
              </a:ext>
            </a:extLst>
          </p:cNvPr>
          <p:cNvSpPr txBox="1"/>
          <p:nvPr/>
        </p:nvSpPr>
        <p:spPr>
          <a:xfrm>
            <a:off x="448056" y="699182"/>
            <a:ext cx="11146536" cy="482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Problem: Prefix XOR Subsequence Counting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Given: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array n integers 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integers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sz="18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sz="1800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 ...,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sz="1800" i="1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(0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≤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en-IN" sz="1800" i="1" kern="100" baseline="-25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18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queries, each contains integers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and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(1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≤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≤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 0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≤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18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each query find the number of subsequence of the first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elements of the array such that their bitwise-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xor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sum is</a:t>
            </a:r>
            <a:r>
              <a:rPr lang="en-IN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exactly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IN" sz="18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Constraints: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 the answer for each query modulo 10</a:t>
            </a:r>
            <a:r>
              <a:rPr lang="en-IN" sz="1800" kern="1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9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IN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 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Property: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bitwise-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xor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sum of the empty set is 0 and the bitwise-</a:t>
            </a:r>
            <a:r>
              <a:rPr lang="en-IN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xor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sum of a set containing one element is that element itself.</a:t>
            </a:r>
          </a:p>
        </p:txBody>
      </p:sp>
    </p:spTree>
    <p:extLst>
      <p:ext uri="{BB962C8B-B14F-4D97-AF65-F5344CB8AC3E}">
        <p14:creationId xmlns:p14="http://schemas.microsoft.com/office/powerpoint/2010/main" val="2448408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DD30C-19B3-D674-F3C8-2E85B48D6EC2}"/>
              </a:ext>
            </a:extLst>
          </p:cNvPr>
          <p:cNvSpPr txBox="1"/>
          <p:nvPr/>
        </p:nvSpPr>
        <p:spPr>
          <a:xfrm>
            <a:off x="3566160" y="96786"/>
            <a:ext cx="4507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Only one query N, X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8680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CC094C-7885-61CF-9B2B-7547C26C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37" y="231594"/>
            <a:ext cx="6268325" cy="6230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948FE5-3C09-0A73-395C-FFFB063C23AA}"/>
              </a:ext>
            </a:extLst>
          </p:cNvPr>
          <p:cNvSpPr txBox="1"/>
          <p:nvPr/>
        </p:nvSpPr>
        <p:spPr>
          <a:xfrm>
            <a:off x="607432" y="627714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Code: </a:t>
            </a:r>
            <a:r>
              <a:rPr lang="en-IN" dirty="0">
                <a:hlinkClick r:id="rId3"/>
              </a:rPr>
              <a:t>https://github.com/prakrititz/Gauss-Jordan-Cpp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148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4CC3C-ED0B-5221-9983-5DE8733A8271}"/>
              </a:ext>
            </a:extLst>
          </p:cNvPr>
          <p:cNvSpPr txBox="1"/>
          <p:nvPr/>
        </p:nvSpPr>
        <p:spPr>
          <a:xfrm>
            <a:off x="2104644" y="2629673"/>
            <a:ext cx="7982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How To Deal With Multiple Query?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68056-4CCD-BC05-C587-1D3AD282159F}"/>
              </a:ext>
            </a:extLst>
          </p:cNvPr>
          <p:cNvSpPr txBox="1"/>
          <p:nvPr/>
        </p:nvSpPr>
        <p:spPr>
          <a:xfrm>
            <a:off x="3218688" y="3520441"/>
            <a:ext cx="8851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Hint: We only need to care about the Rank until </a:t>
            </a:r>
            <a:r>
              <a:rPr lang="en-US" dirty="0" err="1"/>
              <a:t>ith</a:t>
            </a:r>
            <a:r>
              <a:rPr lang="en-US" dirty="0"/>
              <a:t> index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22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577</Words>
  <Application>Microsoft Office PowerPoint</Application>
  <PresentationFormat>Widescreen</PresentationFormat>
  <Paragraphs>62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Helvetica Neue</vt:lpstr>
      <vt:lpstr>Symbol</vt:lpstr>
      <vt:lpstr>Times New Roman</vt:lpstr>
      <vt:lpstr>Office Theme</vt:lpstr>
      <vt:lpstr>Gauss-Jordan Elimination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IMT2023547 Prakrititz Borah</dc:creator>
  <cp:lastModifiedBy>IMT2023547 Prakrititz Borah</cp:lastModifiedBy>
  <cp:revision>3</cp:revision>
  <dcterms:created xsi:type="dcterms:W3CDTF">2026-02-10T06:15:04Z</dcterms:created>
  <dcterms:modified xsi:type="dcterms:W3CDTF">2026-02-12T21:31:00Z</dcterms:modified>
</cp:coreProperties>
</file>